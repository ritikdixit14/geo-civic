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980B9"/>
                </a:solidFill>
              </a:defRPr>
            </a:pPr>
            <a:r>
              <a:t>City Issue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AI-Powered Platform for Urban Problem Resolution</a:t>
            </a:r>
          </a:p>
        </p:txBody>
      </p:sp>
      <p:sp>
        <p:nvSpPr>
          <p:cNvPr id="4" name="Oval 3"/>
          <p:cNvSpPr/>
          <p:nvPr/>
        </p:nvSpPr>
        <p:spPr>
          <a:xfrm>
            <a:off x="2057400" y="4114800"/>
            <a:ext cx="731520" cy="7315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Automated Triage</a:t>
            </a:r>
          </a:p>
        </p:txBody>
      </p:sp>
      <p:sp>
        <p:nvSpPr>
          <p:cNvPr id="6" name="Oval 5"/>
          <p:cNvSpPr/>
          <p:nvPr/>
        </p:nvSpPr>
        <p:spPr>
          <a:xfrm>
            <a:off x="4343400" y="4114800"/>
            <a:ext cx="731520" cy="7315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Geospatial Intelligence</a:t>
            </a:r>
          </a:p>
        </p:txBody>
      </p:sp>
      <p:sp>
        <p:nvSpPr>
          <p:cNvPr id="8" name="Oval 7"/>
          <p:cNvSpPr/>
          <p:nvPr/>
        </p:nvSpPr>
        <p:spPr>
          <a:xfrm>
            <a:off x="6629400" y="4114800"/>
            <a:ext cx="731520" cy="731520"/>
          </a:xfrm>
          <a:prstGeom prst="ellipse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Real-Time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Problem to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828800" cy="109728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Slow manual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645920"/>
            <a:ext cx="1828800" cy="109728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Duplicate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1828800" cy="109728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No clear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1828800" cy="109728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Zero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OUR SOLUTION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182880" y="4389120"/>
            <a:ext cx="1645920" cy="1371600"/>
          </a:xfrm>
          <a:prstGeom prst="chevron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585216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Photo and GPS</a:t>
            </a:r>
          </a:p>
          <a:p>
            <a:r>
              <a:t>from the app</a:t>
            </a:r>
          </a:p>
        </p:txBody>
      </p:sp>
      <p:sp>
        <p:nvSpPr>
          <p:cNvPr id="15" name="Chevron 14"/>
          <p:cNvSpPr/>
          <p:nvPr/>
        </p:nvSpPr>
        <p:spPr>
          <a:xfrm>
            <a:off x="1920240" y="4389120"/>
            <a:ext cx="1645920" cy="1371600"/>
          </a:xfrm>
          <a:prstGeom prst="chevron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5216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AI tags category</a:t>
            </a:r>
          </a:p>
          <a:p>
            <a:r>
              <a:t>and severity</a:t>
            </a:r>
          </a:p>
        </p:txBody>
      </p:sp>
      <p:sp>
        <p:nvSpPr>
          <p:cNvPr id="17" name="Chevron 16"/>
          <p:cNvSpPr/>
          <p:nvPr/>
        </p:nvSpPr>
        <p:spPr>
          <a:xfrm>
            <a:off x="3657600" y="4389120"/>
            <a:ext cx="1645920" cy="1371600"/>
          </a:xfrm>
          <a:prstGeom prst="chevron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Merge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85216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Duplicates within</a:t>
            </a:r>
          </a:p>
          <a:p>
            <a:r>
              <a:t>50 m combined</a:t>
            </a:r>
          </a:p>
        </p:txBody>
      </p:sp>
      <p:sp>
        <p:nvSpPr>
          <p:cNvPr id="19" name="Chevron 18"/>
          <p:cNvSpPr/>
          <p:nvPr/>
        </p:nvSpPr>
        <p:spPr>
          <a:xfrm>
            <a:off x="5394959" y="4389120"/>
            <a:ext cx="1645920" cy="1371600"/>
          </a:xfrm>
          <a:prstGeom prst="chevron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585216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Score ranks</a:t>
            </a:r>
          </a:p>
          <a:p>
            <a:r>
              <a:t>every ticket</a:t>
            </a:r>
          </a:p>
        </p:txBody>
      </p:sp>
      <p:sp>
        <p:nvSpPr>
          <p:cNvPr id="21" name="Chevron 20"/>
          <p:cNvSpPr/>
          <p:nvPr/>
        </p:nvSpPr>
        <p:spPr>
          <a:xfrm>
            <a:off x="7132320" y="4389120"/>
            <a:ext cx="1645920" cy="1371600"/>
          </a:xfrm>
          <a:prstGeom prst="chevron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Resolve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85216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Authorities act,</a:t>
            </a:r>
          </a:p>
          <a:p>
            <a:r>
              <a:t>citizens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Who Built What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92024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980B9"/>
                </a:solidFill>
              </a:defRPr>
            </a:pPr>
            <a:r>
              <a:t>Frontend</a:t>
            </a:r>
          </a:p>
          <a:p>
            <a: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/>
            </a:pPr>
            <a:r>
              <a:t>• React + Vite citizen app</a:t>
            </a:r>
          </a:p>
          <a:p>
            <a:pPr>
              <a:spcAft>
                <a:spcPts val="1000"/>
              </a:spcAft>
              <a:defRPr sz="1400"/>
            </a:pPr>
            <a:r>
              <a:t>• Auto GPS and photo upload</a:t>
            </a:r>
          </a:p>
          <a:p>
            <a:pPr>
              <a:spcAft>
                <a:spcPts val="1000"/>
              </a:spcAft>
              <a:defRPr sz="1400"/>
            </a:pPr>
            <a:r>
              <a:t>• My Reports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79" y="1371600"/>
            <a:ext cx="192024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79" y="15544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980B9"/>
                </a:solidFill>
              </a:defRPr>
            </a:pPr>
            <a:r>
              <a:t>AI Service</a:t>
            </a:r>
          </a:p>
          <a:p>
            <a:r>
              <a:t>Member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19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/>
            </a:pPr>
            <a:r>
              <a:t>• Python + FastAPI</a:t>
            </a:r>
          </a:p>
          <a:p>
            <a:pPr>
              <a:spcAft>
                <a:spcPts val="1000"/>
              </a:spcAft>
              <a:defRPr sz="1400"/>
            </a:pPr>
            <a:r>
              <a:t>• Category and severity score</a:t>
            </a:r>
          </a:p>
          <a:p>
            <a:pPr>
              <a:spcAft>
                <a:spcPts val="1000"/>
              </a:spcAft>
              <a:defRPr sz="1400"/>
            </a:pPr>
            <a:r>
              <a:t>• ImageHash duplicate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192024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980B9"/>
                </a:solidFill>
              </a:defRPr>
            </a:pPr>
            <a:r>
              <a:t>Backend</a:t>
            </a:r>
          </a:p>
          <a:p>
            <a:r>
              <a:t>Member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/>
            </a:pPr>
            <a:r>
              <a:t>• Node.js + Express API</a:t>
            </a:r>
          </a:p>
          <a:p>
            <a:pPr>
              <a:spcAft>
                <a:spcPts val="1000"/>
              </a:spcAft>
              <a:defRPr sz="1400"/>
            </a:pPr>
            <a:r>
              <a:t>• PostGIS 50 m merge</a:t>
            </a:r>
          </a:p>
          <a:p>
            <a:pPr>
              <a:spcAft>
                <a:spcPts val="1000"/>
              </a:spcAft>
              <a:defRPr sz="1400"/>
            </a:pPr>
            <a:r>
              <a:t>• Priority score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371600"/>
            <a:ext cx="192024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980B9"/>
                </a:solidFill>
              </a:defRPr>
            </a:pPr>
            <a:r>
              <a:t>Dashboard</a:t>
            </a:r>
          </a:p>
          <a:p>
            <a:r>
              <a:t>Member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/>
            </a:pPr>
            <a:r>
              <a:t>• React-Leaflet hotspot map</a:t>
            </a:r>
          </a:p>
          <a:p>
            <a:pPr>
              <a:spcAft>
                <a:spcPts val="1000"/>
              </a:spcAft>
              <a:defRPr sz="1400"/>
            </a:pPr>
            <a:r>
              <a:t>• Recharts analytics</a:t>
            </a:r>
          </a:p>
          <a:p>
            <a:pPr>
              <a:spcAft>
                <a:spcPts val="1000"/>
              </a:spcAft>
              <a:defRPr sz="1400"/>
            </a:pPr>
            <a:r>
              <a:t>• Priority inbox triage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The Intelligence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AI triage</a:t>
            </a:r>
          </a:p>
          <a:p>
            <a:r>
              <a:t>Member 2</a:t>
            </a:r>
          </a:p>
        </p:txBody>
      </p:sp>
      <p:sp>
        <p:nvSpPr>
          <p:cNvPr id="4" name="Down Arrow 3"/>
          <p:cNvSpPr/>
          <p:nvPr/>
        </p:nvSpPr>
        <p:spPr>
          <a:xfrm>
            <a:off x="1554480" y="2194560"/>
            <a:ext cx="36576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560320" cy="32004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Low | Medium | High</a:t>
            </a:r>
          </a:p>
          <a:p/>
          <a:p>
            <a:r>
              <a:t>Photos are classified, scored and checked for duplicates.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256032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Smart merge</a:t>
            </a:r>
          </a:p>
          <a:p>
            <a:r>
              <a:t>Member 3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2194560"/>
            <a:ext cx="36576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2560320" cy="32004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50 m</a:t>
            </a:r>
          </a:p>
          <a:p/>
          <a:p>
            <a:r>
              <a:t>PostGIS ST_Distance merges nearby duplicate reports into one ticket.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56032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Priority engine</a:t>
            </a:r>
          </a:p>
          <a:p>
            <a:r>
              <a:t>Member 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040880" y="2194560"/>
            <a:ext cx="36576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2743200"/>
            <a:ext cx="2560320" cy="32004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AI severity</a:t>
            </a:r>
          </a:p>
          <a:p>
            <a:r>
              <a:t>Duplicate count</a:t>
            </a:r>
          </a:p>
          <a:p>
            <a:r>
              <a:t>Time elapsed</a:t>
            </a:r>
          </a:p>
          <a:p>
            <a:r>
              <a:t>↓</a:t>
            </a:r>
          </a:p>
          <a:p>
            <a:r>
              <a:t>Priority score</a:t>
            </a:r>
          </a:p>
          <a:p/>
          <a:p>
            <a:r>
              <a:t>Feeds Member 4's inbox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Impact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integrated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</a:defRPr>
            </a:pPr>
            <a:r>
              <a:t>50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duplicate merge radius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AI severity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live ticket statuses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What's next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97680"/>
            <a:ext cx="548640" cy="548640"/>
          </a:xfrm>
          <a:prstGeom prst="ellipse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97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Production CNN models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Plug in MobileNet / ResNet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548640" cy="548640"/>
          </a:xfrm>
          <a:prstGeom prst="ellipse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Citizen alerts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Notify on status change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760720"/>
            <a:ext cx="548640" cy="548640"/>
          </a:xfrm>
          <a:prstGeom prst="ellipse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Deeper analytics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Resolution time by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2980B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City Issue Reporter | Live demo and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1645920" cy="54864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Citizen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029200"/>
            <a:ext cx="1645920" cy="54864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AI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5029200"/>
            <a:ext cx="1645920" cy="54864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029200"/>
            <a:ext cx="1645920" cy="54864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Command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